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and the project. Flipkart is one of India's largest e-commerce platforms. Today you'll walk through how we used machine learning to predict customer satisfaction. Mention 85,907 real interactions. (0:30)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7 sections briefly. Set expectations — this is a complete end-to-end ML project. (0:30)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business pain: customers who leave bad scores churn silently. Our model gives Flipkart a heads-up before that happens. Emphasize the real cost of poor CSAT.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dataset — 20 columns, 85,907 rows. Highlight the big class imbalance: 69% of tickets are Score 5. Point out which columns had heavy missing values and why some were dropped.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pipeline: Response_Time_Minutes was engineered from two timestamp columns. IQR capping handled outliers in price and time. Explain train/test stratified split.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analytical core. Explain the heatmap — response time has the strongest negative correlation. Experienced agents score higher. Refund and Payment categories are most at risk.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two models — Decision Tree is simpler but weaker. Random Forest with 200 trees and class balancing is better. GridSearchCV found the best hyperparameters using 3-fold cross-validation. (1:30)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final results table. RF Tuned wins on both accuracy and F1. Connect results to business actions — cut response time, focus on high-risk categories, mentor new agents.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all 6 key takeaways. Leave the audience with the business value: this model can be deployed as a real-time CSAT alert system. Thank the audience and invite questions. (1:00)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97680" y="1783080"/>
            <a:ext cx="3291840" cy="32918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663440" y="2148840"/>
            <a:ext cx="2560320" cy="2560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Flipkart CSAT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</a:rPr>
              <a:t>Customer Satisfaction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5669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</a:rPr>
              <a:t>Using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154680"/>
            <a:ext cx="5029200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</a:rPr>
              <a:t>85,907 Customer Interactions  •  ML Classification  •  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At a Glance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645920"/>
            <a:ext cx="4206240" cy="86868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691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E795"/>
                </a:solidFill>
              </a:rPr>
              <a:t>85,907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</a:rPr>
              <a:t>Total Tickets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2743200"/>
            <a:ext cx="4206240" cy="86868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E795"/>
                </a:solidFill>
              </a:rPr>
              <a:t>69.4%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</a:rPr>
              <a:t>Rated Score 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3840480"/>
            <a:ext cx="4206240" cy="86868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3886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E795"/>
                </a:solidFill>
              </a:rPr>
              <a:t>3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</a:rPr>
              <a:t>Trained &amp; Tuned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4937759"/>
            <a:ext cx="4206240" cy="86868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98347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E795"/>
                </a:solidFill>
              </a:rPr>
              <a:t>RF Wins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02919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</a:rPr>
              <a:t>Best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Labmentix  |  Data Science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2788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79" y="12801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74519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331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What are we solving and 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280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</a:rPr>
              <a:t>0:30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188720"/>
            <a:ext cx="2788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37560" y="12801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874519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Dataset &amp; 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331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85,907 records, key distributions &amp;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280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</a:rPr>
              <a:t>1:00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188720"/>
            <a:ext cx="2788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63640" y="12801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874519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331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Response time, outlier handling, encoding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1280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</a:rPr>
              <a:t>1:00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1188720"/>
            <a:ext cx="2788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89720" y="128016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6296" y="12984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874519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Correlation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33172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What actually drives CSAT scores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1280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</a:rPr>
              <a:t>1:00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49039"/>
            <a:ext cx="2788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1479" y="3840479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4434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Model Building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48920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Decision Tree vs Random Forest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384047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</a:rPr>
              <a:t>1:30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749039"/>
            <a:ext cx="2788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37560" y="3840479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74136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4434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Hyperparameter Tuning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48920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GridSearchCV – finding the best params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7800" y="384047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</a:rPr>
              <a:t>1:00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749039"/>
            <a:ext cx="27889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3640" y="3840479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0216" y="3858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4348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Results &amp; Recommendations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892040"/>
            <a:ext cx="2606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Model comparison + business 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79" y="384047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6167"/>
                </a:solidFill>
              </a:rPr>
              <a:t>1:00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Total Duration: 7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| 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394960" cy="5212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E795"/>
                </a:solidFill>
              </a:rPr>
              <a:t>The Challenge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65960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Flipkart handles thousands of customer queries daily across Returns, Refunds, Orders and more.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07208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When customers are dissatisfied, they churn — silently.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48456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8444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Currently, there is NO early warning system to identify at-risk interactions.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9704"/>
            <a:ext cx="182880" cy="18288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25696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Agents and supervisors have no data-driven feedback loop.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143000"/>
            <a:ext cx="5486400" cy="2377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Our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Predict CSAT Score (1–5) for every customer interaction BEFORE it affects retention — enabling proactive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703320"/>
            <a:ext cx="5486400" cy="2651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Business Value</a:t>
            </a:r>
          </a:p>
        </p:txBody>
      </p:sp>
      <p:sp>
        <p:nvSpPr>
          <p:cNvPr id="19" name="Oval 18"/>
          <p:cNvSpPr/>
          <p:nvPr/>
        </p:nvSpPr>
        <p:spPr>
          <a:xfrm>
            <a:off x="6419088" y="445312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37083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Reduce churn proactively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8" y="495604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8737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Target agent training better</a:t>
            </a:r>
          </a:p>
        </p:txBody>
      </p:sp>
      <p:sp>
        <p:nvSpPr>
          <p:cNvPr id="23" name="Oval 22"/>
          <p:cNvSpPr/>
          <p:nvPr/>
        </p:nvSpPr>
        <p:spPr>
          <a:xfrm>
            <a:off x="6419088" y="545896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537667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Prioritize high-risk categories</a:t>
            </a:r>
          </a:p>
        </p:txBody>
      </p:sp>
      <p:sp>
        <p:nvSpPr>
          <p:cNvPr id="25" name="Oval 24"/>
          <p:cNvSpPr/>
          <p:nvPr/>
        </p:nvSpPr>
        <p:spPr>
          <a:xfrm>
            <a:off x="6419088" y="596188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587959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Build real-time CSAT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|  Dataset &amp; Exploratory Data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3657600" cy="5212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9E795"/>
                </a:solidFill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85,907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8366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Total Interactions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786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334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Feature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28415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1–5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38327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CSAT Score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7822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13308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Contact 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882895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Issue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77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63270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Agent Shifts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097280"/>
            <a:ext cx="7589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18872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CSAT Score Distribution  (Class Imbalance)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737360"/>
            <a:ext cx="62179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737360"/>
            <a:ext cx="1171263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170992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Score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17099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11,230 (13.1%)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2084831"/>
            <a:ext cx="62179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0" y="2084831"/>
            <a:ext cx="133814" cy="25603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2057400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Score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20574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1,283 (1.5%)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432304"/>
            <a:ext cx="62179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2432304"/>
            <a:ext cx="266793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2404872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Score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24048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2,558 (3.0%)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2779776"/>
            <a:ext cx="62179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779776"/>
            <a:ext cx="1170116" cy="25603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275234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Score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27523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11,219 (13.1%)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127248"/>
            <a:ext cx="62179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3127248"/>
            <a:ext cx="62179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309981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Score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309981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59,617 (69.4%)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3538728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</a:rPr>
              <a:t>⚠  Score 5 dominates (69.4%) — class_weight='balanced' applied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384048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395020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Missing Values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4434840"/>
            <a:ext cx="25603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4434840"/>
            <a:ext cx="2050816" cy="20116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Customer_City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43891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6167"/>
                </a:solidFill>
              </a:rPr>
              <a:t>80.1%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4773168"/>
            <a:ext cx="25603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4773168"/>
            <a:ext cx="2048255" cy="20116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4727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order_date_time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8040" y="47274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6167"/>
                </a:solidFill>
              </a:rPr>
              <a:t>80.0%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5111496"/>
            <a:ext cx="25603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72000" y="5111496"/>
            <a:ext cx="2045695" cy="20116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5065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Item_price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5065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6167"/>
                </a:solidFill>
              </a:rPr>
              <a:t>79.9%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0" y="5449823"/>
            <a:ext cx="25603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0" y="5449823"/>
            <a:ext cx="1702612" cy="20116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4041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Customer Remarks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540410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6167"/>
                </a:solidFill>
              </a:rPr>
              <a:t>66.5%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0" y="5788152"/>
            <a:ext cx="25603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0" y="5788152"/>
            <a:ext cx="542787" cy="201168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0" y="5742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Order_id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5742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6167"/>
                </a:solidFill>
              </a:rPr>
              <a:t>21.2%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92440" y="3840480"/>
            <a:ext cx="379476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5320" y="39502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Contact Channels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5320" y="4434840"/>
            <a:ext cx="32004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75320" y="4434840"/>
            <a:ext cx="2538578" cy="29260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75320" y="436168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Inbound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43616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68,142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4983479"/>
            <a:ext cx="32004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75320" y="4983479"/>
            <a:ext cx="549202" cy="292608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75320" y="491032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Outcall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0" y="4910327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14,742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75320" y="5532120"/>
            <a:ext cx="3200400" cy="29260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75320" y="5532120"/>
            <a:ext cx="112619" cy="2926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75320" y="54589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761"/>
                </a:solidFill>
              </a:rPr>
              <a:t>Email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5458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3,023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|  Feature Engineering &amp; Pre-Processing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214884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Created Response_Time_Minutes from timestamp diff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737360"/>
            <a:ext cx="182880" cy="137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97479" y="1143000"/>
            <a:ext cx="2148840" cy="173736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23444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Outlier
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874519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IQR capping on Response_Time &amp; Item_price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182880" cy="137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1143000"/>
            <a:ext cx="2148840" cy="1737360"/>
          </a:xfrm>
          <a:prstGeom prst="rect">
            <a:avLst/>
          </a:prstGeom>
          <a:solidFill>
            <a:srgbClr val="02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23444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Missing
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74519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Median impute (numeric) + Mode impute (categorical)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737360"/>
            <a:ext cx="182880" cy="137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60919" y="1143000"/>
            <a:ext cx="2148840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59" y="123444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59" y="1874519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OneHotEncoder for all categorical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59" y="1737360"/>
            <a:ext cx="182880" cy="1371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1143000"/>
            <a:ext cx="2148840" cy="1737360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234440"/>
            <a:ext cx="1965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874519"/>
            <a:ext cx="1965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MinMaxScaler on numeric features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63240"/>
            <a:ext cx="11430000" cy="9601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💡  Key Insight: Response_Time_Minutes is the most engineered feature — lower CSAT scores consistently show LONGER response times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60520"/>
            <a:ext cx="55778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793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Columns Dropped (Reason)</a:t>
            </a:r>
          </a:p>
        </p:txBody>
      </p:sp>
      <p:sp>
        <p:nvSpPr>
          <p:cNvPr id="27" name="Oval 26"/>
          <p:cNvSpPr/>
          <p:nvPr/>
        </p:nvSpPr>
        <p:spPr>
          <a:xfrm>
            <a:off x="530352" y="4782312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274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Unique id / Order_id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7274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Identifier — no predictive value</a:t>
            </a:r>
          </a:p>
        </p:txBody>
      </p:sp>
      <p:sp>
        <p:nvSpPr>
          <p:cNvPr id="30" name="Oval 29"/>
          <p:cNvSpPr/>
          <p:nvPr/>
        </p:nvSpPr>
        <p:spPr>
          <a:xfrm>
            <a:off x="530352" y="5129783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074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Customer Remarks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074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Free text — needs NLP (future work)</a:t>
            </a:r>
          </a:p>
        </p:txBody>
      </p:sp>
      <p:sp>
        <p:nvSpPr>
          <p:cNvPr id="33" name="Oval 32"/>
          <p:cNvSpPr/>
          <p:nvPr/>
        </p:nvSpPr>
        <p:spPr>
          <a:xfrm>
            <a:off x="530352" y="5477255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4223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Agent_name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54223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High cardinality — noise</a:t>
            </a:r>
          </a:p>
        </p:txBody>
      </p:sp>
      <p:sp>
        <p:nvSpPr>
          <p:cNvPr id="36" name="Oval 35"/>
          <p:cNvSpPr/>
          <p:nvPr/>
        </p:nvSpPr>
        <p:spPr>
          <a:xfrm>
            <a:off x="530352" y="5824727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76986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Customer_City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76986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80%+ missing values</a:t>
            </a:r>
          </a:p>
        </p:txBody>
      </p:sp>
      <p:sp>
        <p:nvSpPr>
          <p:cNvPr id="39" name="Oval 38"/>
          <p:cNvSpPr/>
          <p:nvPr/>
        </p:nvSpPr>
        <p:spPr>
          <a:xfrm>
            <a:off x="530352" y="6172200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1173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Raw timestamps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611733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Replaced by Response_Time_Minutes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160520"/>
            <a:ext cx="5486400" cy="2423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279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795"/>
                </a:solidFill>
              </a:rPr>
              <a:t>Train / Test Split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754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Strategy: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4754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Stratified (preserves CSAT class ratio)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17550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Train set: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51755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68,725 samples  (80%)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596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Test set: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55961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17,182 samples  (20%)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6016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Random seed: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6016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42  (reproducible)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|  Correlation &amp; Key Drivers of CSAT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53949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Feature Correlation with CSAT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30352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2560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709928"/>
            <a:ext cx="731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09928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84831"/>
            <a:ext cx="5303520" cy="3840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Response_Time_Minutes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1031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-0.142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031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</a:rPr>
              <a:t>Negative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96312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connected_handling_time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5146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-0.089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5146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Negative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07791"/>
            <a:ext cx="5303520" cy="3840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7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Item_price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2926079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+0.031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92607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Positive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319272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37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channel_name (Email)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33375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+0.074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3375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Positive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30752"/>
            <a:ext cx="5303520" cy="3840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49039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Tenure &gt;90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749039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+0.062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749039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Positive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42231"/>
            <a:ext cx="53035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category: Refund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16052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-0.058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1605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Negative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53712"/>
            <a:ext cx="5303520" cy="384048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72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761"/>
                </a:solidFill>
              </a:rPr>
              <a:t>Agent Shift (Night)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457200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-0.041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4572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</a:rPr>
              <a:t>Negative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097280"/>
            <a:ext cx="58978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11887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</a:rPr>
              <a:t>Avg CSAT by Issue Category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1764792"/>
            <a:ext cx="43891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72200" y="1764792"/>
            <a:ext cx="3695639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16916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Returns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16916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4.21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2084831"/>
            <a:ext cx="43891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2084831"/>
            <a:ext cx="3669304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Order Related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2011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4.18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2404872"/>
            <a:ext cx="43891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72200" y="2404872"/>
            <a:ext cx="3283061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Refund Related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0" y="2331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3.74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2724911"/>
            <a:ext cx="43891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72200" y="2724911"/>
            <a:ext cx="3555187" cy="2011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722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Product Queries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26517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4.05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3044951"/>
            <a:ext cx="43891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044951"/>
            <a:ext cx="3230392" cy="2011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220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Payments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07040" y="2971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3.68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3364991"/>
            <a:ext cx="4389120" cy="201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72200" y="3364991"/>
            <a:ext cx="3467404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7220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Cancellation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32918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3.95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89320" y="3794760"/>
            <a:ext cx="5897880" cy="2514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72200" y="3904487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795"/>
                </a:solidFill>
              </a:rPr>
              <a:t>Tenure Bucket vs CSAT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72200" y="4407408"/>
            <a:ext cx="4114800" cy="22860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4407408"/>
            <a:ext cx="3332987" cy="2286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4315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On Job Training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78440" y="4315968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E795"/>
                </a:solidFill>
              </a:rPr>
              <a:t>4.05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4754880"/>
            <a:ext cx="4114800" cy="22860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4754880"/>
            <a:ext cx="3374136" cy="2286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72200" y="46634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0–30 days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78440" y="4663440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E795"/>
                </a:solidFill>
              </a:rPr>
              <a:t>4.10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5102352"/>
            <a:ext cx="4114800" cy="22860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72200" y="5102352"/>
            <a:ext cx="3448202" cy="2286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72200" y="50109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31–60 days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78440" y="50109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E795"/>
                </a:solidFill>
              </a:rPr>
              <a:t>4.19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5449824"/>
            <a:ext cx="4114800" cy="22860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172200" y="5449824"/>
            <a:ext cx="3472891" cy="2286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72200" y="53583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61–90 days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378440" y="535838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E795"/>
                </a:solidFill>
              </a:rPr>
              <a:t>4.22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72200" y="5797296"/>
            <a:ext cx="4114800" cy="22860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72200" y="5797296"/>
            <a:ext cx="3546957" cy="228600"/>
          </a:xfrm>
          <a:prstGeom prst="rect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72200" y="57058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&gt;90 days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78440" y="57058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E795"/>
                </a:solidFill>
              </a:rPr>
              <a:t>4.31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7220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</a:rPr>
              <a:t>💡 Experienced agents (&gt;90 days) consistently deliver higher satisfaction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05–06  |  Model Building &amp; Hyperparameter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53949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21615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Model 1 — Decision Tree</a:t>
            </a:r>
          </a:p>
        </p:txBody>
      </p:sp>
      <p:sp>
        <p:nvSpPr>
          <p:cNvPr id="7" name="Oval 6"/>
          <p:cNvSpPr/>
          <p:nvPr/>
        </p:nvSpPr>
        <p:spPr>
          <a:xfrm>
            <a:off x="475488" y="184708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Baseline interpretable model</a:t>
            </a:r>
          </a:p>
        </p:txBody>
      </p:sp>
      <p:sp>
        <p:nvSpPr>
          <p:cNvPr id="9" name="Oval 8"/>
          <p:cNvSpPr/>
          <p:nvPr/>
        </p:nvSpPr>
        <p:spPr>
          <a:xfrm>
            <a:off x="475488" y="225856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No class weighting applied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" y="26700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Tends to overfit on training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017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~72%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</a:rPr>
              <a:t>F1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429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~0.68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097280"/>
            <a:ext cx="5486400" cy="2926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1216152"/>
            <a:ext cx="457200" cy="45720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188720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Model 2 — Random Forest</a:t>
            </a:r>
          </a:p>
        </p:txBody>
      </p:sp>
      <p:sp>
        <p:nvSpPr>
          <p:cNvPr id="20" name="Oval 19"/>
          <p:cNvSpPr/>
          <p:nvPr/>
        </p:nvSpPr>
        <p:spPr>
          <a:xfrm>
            <a:off x="6281928" y="1847088"/>
            <a:ext cx="146304" cy="146304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200 decision trees (ensemble)</a:t>
            </a:r>
          </a:p>
        </p:txBody>
      </p:sp>
      <p:sp>
        <p:nvSpPr>
          <p:cNvPr id="22" name="Oval 21"/>
          <p:cNvSpPr/>
          <p:nvPr/>
        </p:nvSpPr>
        <p:spPr>
          <a:xfrm>
            <a:off x="6281928" y="2258568"/>
            <a:ext cx="146304" cy="146304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class_weight='balanced'  — handles imbalance</a:t>
            </a:r>
          </a:p>
        </p:txBody>
      </p:sp>
      <p:sp>
        <p:nvSpPr>
          <p:cNvPr id="24" name="Oval 23"/>
          <p:cNvSpPr/>
          <p:nvPr/>
        </p:nvSpPr>
        <p:spPr>
          <a:xfrm>
            <a:off x="6281928" y="2670048"/>
            <a:ext cx="146304" cy="146304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n_jobs=-1  — parallel training (all cores)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017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017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795"/>
                </a:solidFill>
              </a:rPr>
              <a:t>~76%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</a:rPr>
              <a:t>F1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4290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9E795"/>
                </a:solidFill>
              </a:rPr>
              <a:t>~0.73</a:t>
            </a:r>
          </a:p>
        </p:txBody>
      </p:sp>
      <p:sp>
        <p:nvSpPr>
          <p:cNvPr id="30" name="Oval 29"/>
          <p:cNvSpPr/>
          <p:nvPr/>
        </p:nvSpPr>
        <p:spPr>
          <a:xfrm>
            <a:off x="5468112" y="2267712"/>
            <a:ext cx="585216" cy="585216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23774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160520"/>
            <a:ext cx="11521440" cy="2423160"/>
          </a:xfrm>
          <a:prstGeom prst="rect">
            <a:avLst/>
          </a:prstGeom>
          <a:solidFill>
            <a:srgbClr val="02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251960"/>
            <a:ext cx="9144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GridSearchCV — Hyperparameter Tuning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773168"/>
            <a:ext cx="3611880" cy="1572768"/>
          </a:xfrm>
          <a:prstGeom prst="rect">
            <a:avLst/>
          </a:prstGeom>
          <a:solidFill>
            <a:srgbClr val="01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8646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795"/>
                </a:solidFill>
              </a:rPr>
              <a:t>n_estimators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2303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[100, 200]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6235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Number of trees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4773168"/>
            <a:ext cx="3611880" cy="1572768"/>
          </a:xfrm>
          <a:prstGeom prst="rect">
            <a:avLst/>
          </a:prstGeom>
          <a:solidFill>
            <a:srgbClr val="01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8646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795"/>
                </a:solidFill>
              </a:rPr>
              <a:t>max_depth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2303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[10, 20, None]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6235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Tree depth limit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4773168"/>
            <a:ext cx="3611880" cy="1572768"/>
          </a:xfrm>
          <a:prstGeom prst="rect">
            <a:avLst/>
          </a:prstGeom>
          <a:solidFill>
            <a:srgbClr val="01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5320" y="48646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E795"/>
                </a:solidFill>
              </a:rPr>
              <a:t>min_samples_split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2303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[2, 5]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6235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Min samples to split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9E795"/>
                </a:solidFill>
              </a:rPr>
              <a:t>Best: n_estimators=200  |  max_depth=None  |  CV=3 folds  |  Scoring: f1_weighted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|  Results &amp;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97280"/>
            <a:ext cx="77724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Model Performance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768096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70992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099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Weighted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7099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Class Balance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7099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Winner?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21408"/>
            <a:ext cx="7680960" cy="521207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Decision 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19456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~72.0%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19456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~0.68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9456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Not handled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1945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70048"/>
            <a:ext cx="768096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743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~76.0%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74320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~0.73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74320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Balanced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274320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18687"/>
            <a:ext cx="7680960" cy="521207"/>
          </a:xfrm>
          <a:prstGeom prst="rect">
            <a:avLst/>
          </a:prstGeom>
          <a:solidFill>
            <a:srgbClr val="EC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291839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RF (Tuned GridSearchCV)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3291839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~78.0%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291839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~0.75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291839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761"/>
                </a:solidFill>
              </a:rPr>
              <a:t>Balanced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29183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251960"/>
            <a:ext cx="777240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343400"/>
            <a:ext cx="7223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795"/>
                </a:solidFill>
              </a:rPr>
              <a:t>Confusion Matrix Insight</a:t>
            </a:r>
          </a:p>
        </p:txBody>
      </p:sp>
      <p:sp>
        <p:nvSpPr>
          <p:cNvPr id="32" name="Oval 31"/>
          <p:cNvSpPr/>
          <p:nvPr/>
        </p:nvSpPr>
        <p:spPr>
          <a:xfrm>
            <a:off x="512064" y="4855464"/>
            <a:ext cx="164592" cy="16459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00600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Score 5 (majority class): highest recall — model predicts it well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" y="5285232"/>
            <a:ext cx="164592" cy="16459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230368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Scores 2 &amp; 3 (minority classes): harder to predict — SMOTE could help</a:t>
            </a:r>
          </a:p>
        </p:txBody>
      </p:sp>
      <p:sp>
        <p:nvSpPr>
          <p:cNvPr id="36" name="Oval 35"/>
          <p:cNvSpPr/>
          <p:nvPr/>
        </p:nvSpPr>
        <p:spPr>
          <a:xfrm>
            <a:off x="512064" y="5715000"/>
            <a:ext cx="164592" cy="164592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660136"/>
            <a:ext cx="7132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</a:rPr>
              <a:t>class_weight='balanced' significantly improved recall for Scores 1 &amp;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1097280"/>
            <a:ext cx="3566160" cy="5166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117043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E795"/>
                </a:solidFill>
              </a:rPr>
              <a:t>Business
Recommendations</a:t>
            </a:r>
          </a:p>
        </p:txBody>
      </p:sp>
      <p:sp>
        <p:nvSpPr>
          <p:cNvPr id="40" name="Oval 39"/>
          <p:cNvSpPr/>
          <p:nvPr/>
        </p:nvSpPr>
        <p:spPr>
          <a:xfrm>
            <a:off x="8531352" y="1965960"/>
            <a:ext cx="402336" cy="402336"/>
          </a:xfrm>
          <a:prstGeom prst="ellipse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67928" y="200253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19659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Cut response time
to &lt; 30 minutes</a:t>
            </a:r>
          </a:p>
        </p:txBody>
      </p:sp>
      <p:sp>
        <p:nvSpPr>
          <p:cNvPr id="43" name="Oval 42"/>
          <p:cNvSpPr/>
          <p:nvPr/>
        </p:nvSpPr>
        <p:spPr>
          <a:xfrm>
            <a:off x="8531352" y="2834639"/>
            <a:ext cx="402336" cy="402336"/>
          </a:xfrm>
          <a:prstGeom prst="ellipse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67928" y="2871215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2834639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Focus on Refunds
&amp; Payments (high-risk)</a:t>
            </a:r>
          </a:p>
        </p:txBody>
      </p:sp>
      <p:sp>
        <p:nvSpPr>
          <p:cNvPr id="46" name="Oval 45"/>
          <p:cNvSpPr/>
          <p:nvPr/>
        </p:nvSpPr>
        <p:spPr>
          <a:xfrm>
            <a:off x="8531352" y="3703320"/>
            <a:ext cx="402336" cy="402336"/>
          </a:xfrm>
          <a:prstGeom prst="ellipse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67928" y="373989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370332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Mentor OJT agents
(&gt;90 days = better CSAT)</a:t>
            </a:r>
          </a:p>
        </p:txBody>
      </p:sp>
      <p:sp>
        <p:nvSpPr>
          <p:cNvPr id="49" name="Oval 48"/>
          <p:cNvSpPr/>
          <p:nvPr/>
        </p:nvSpPr>
        <p:spPr>
          <a:xfrm>
            <a:off x="8531352" y="4572000"/>
            <a:ext cx="402336" cy="402336"/>
          </a:xfrm>
          <a:prstGeom prst="ellipse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67928" y="460857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40" y="457200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Build real-time CSAT
monitoring dashboard</a:t>
            </a:r>
          </a:p>
        </p:txBody>
      </p:sp>
      <p:sp>
        <p:nvSpPr>
          <p:cNvPr id="52" name="Oval 51"/>
          <p:cNvSpPr/>
          <p:nvPr/>
        </p:nvSpPr>
        <p:spPr>
          <a:xfrm>
            <a:off x="8531352" y="5440679"/>
            <a:ext cx="402336" cy="402336"/>
          </a:xfrm>
          <a:prstGeom prst="ellipse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67928" y="5477255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5440679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Auto-escalate tickets
predicted as Score 1–2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Thank You  | 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88720"/>
            <a:ext cx="3749039" cy="237744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8912" y="1335024"/>
            <a:ext cx="402336" cy="402336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</a:rP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470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85,907 real Flipkart interactions across 10 categories &amp; 3 channels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188720"/>
            <a:ext cx="3749039" cy="237744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370831" y="1335024"/>
            <a:ext cx="402336" cy="402336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3533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795"/>
                </a:solidFill>
              </a:rPr>
              <a:t>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470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Class imbalance identified — CSAT 5 = 69.4%, handled with balanced weights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1188720"/>
            <a:ext cx="3749039" cy="237744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02751" y="1335024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3533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4708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Response_Time_Minutes — the single most impactful engineered feature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794760"/>
            <a:ext cx="3749039" cy="237744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912" y="3941064"/>
            <a:ext cx="402336" cy="402336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593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ADCFC"/>
                </a:solidFill>
              </a:rPr>
              <a:t>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5312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Faster response → higher CSAT; experienced agents → better outcomes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3794760"/>
            <a:ext cx="3749039" cy="237744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70831" y="3941064"/>
            <a:ext cx="402336" cy="402336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9593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6167"/>
                </a:solidFill>
              </a:rPr>
              <a:t>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45312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Random Forest outperforms Decision Tree; tuning adds further improvement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3794760"/>
            <a:ext cx="3749039" cy="2377440"/>
          </a:xfrm>
          <a:prstGeom prst="rect">
            <a:avLst/>
          </a:prstGeom>
          <a:solidFill>
            <a:srgbClr val="2E3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02751" y="3941064"/>
            <a:ext cx="402336" cy="402336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395935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795"/>
                </a:solidFill>
              </a:rPr>
              <a:t>Best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453128"/>
            <a:ext cx="3474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RF (Tuned) — ~78% accuracy, ~0.75 weighted F1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Flipkart CSAT Prediction  •  Labmentix Data Science Project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